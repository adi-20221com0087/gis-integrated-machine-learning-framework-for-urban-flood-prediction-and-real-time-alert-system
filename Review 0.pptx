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2"/>
  </p:sldMasterIdLst>
  <p:notesMasterIdLst>
    <p:notesMasterId r:id="rId12"/>
  </p:notesMasterIdLst>
  <p:sldIdLst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7" r:id="rId1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7690726-49DA-4552-BDEB-330DD8EA8BD9}" styleName="Table_0">
    <a:wholeTbl>
      <a:tcTxStyle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1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7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048688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8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599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7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608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1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48612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618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62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5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626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9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630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3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634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0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641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589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48590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591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592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</a:lvl1pPr>
            <a:lvl2pPr marL="0" lvl="1" indent="0" algn="r" rtl="0">
              <a:spcBef>
                <a:spcPts val="0"/>
              </a:spcBef>
              <a:buNone/>
            </a:lvl2pPr>
            <a:lvl3pPr marL="0" lvl="2" indent="0" algn="r" rtl="0">
              <a:spcBef>
                <a:spcPts val="0"/>
              </a:spcBef>
              <a:buNone/>
            </a:lvl3pPr>
            <a:lvl4pPr marL="0" lvl="3" indent="0" algn="r" rtl="0">
              <a:spcBef>
                <a:spcPts val="0"/>
              </a:spcBef>
              <a:buNone/>
            </a:lvl4pPr>
            <a:lvl5pPr marL="0" lvl="4" indent="0" algn="r" rtl="0">
              <a:spcBef>
                <a:spcPts val="0"/>
              </a:spcBef>
              <a:buNone/>
            </a:lvl5pPr>
            <a:lvl6pPr marL="0" lvl="5" indent="0" algn="r" rtl="0">
              <a:spcBef>
                <a:spcPts val="0"/>
              </a:spcBef>
              <a:buNone/>
            </a:lvl6pPr>
            <a:lvl7pPr marL="0" lvl="6" indent="0" algn="r" rtl="0">
              <a:spcBef>
                <a:spcPts val="0"/>
              </a:spcBef>
              <a:buNone/>
            </a:lvl7pPr>
            <a:lvl8pPr marL="0" lvl="7" indent="0" algn="r" rtl="0">
              <a:spcBef>
                <a:spcPts val="0"/>
              </a:spcBef>
              <a:buNone/>
            </a:lvl8pPr>
            <a:lvl9pPr marL="0" lvl="8" indent="0" algn="r" rtl="0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0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9pPr>
          </a:lstStyle>
          <a:p>
            <a:endParaRPr/>
          </a:p>
        </p:txBody>
      </p:sp>
      <p:sp>
        <p:nvSpPr>
          <p:cNvPr id="104860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0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0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</a:lvl1pPr>
            <a:lvl2pPr marL="0" lvl="1" indent="0" algn="r" rtl="0">
              <a:spcBef>
                <a:spcPts val="0"/>
              </a:spcBef>
              <a:buNone/>
            </a:lvl2pPr>
            <a:lvl3pPr marL="0" lvl="2" indent="0" algn="r" rtl="0">
              <a:spcBef>
                <a:spcPts val="0"/>
              </a:spcBef>
              <a:buNone/>
            </a:lvl3pPr>
            <a:lvl4pPr marL="0" lvl="3" indent="0" algn="r" rtl="0">
              <a:spcBef>
                <a:spcPts val="0"/>
              </a:spcBef>
              <a:buNone/>
            </a:lvl4pPr>
            <a:lvl5pPr marL="0" lvl="4" indent="0" algn="r" rtl="0">
              <a:spcBef>
                <a:spcPts val="0"/>
              </a:spcBef>
              <a:buNone/>
            </a:lvl5pPr>
            <a:lvl6pPr marL="0" lvl="5" indent="0" algn="r" rtl="0">
              <a:spcBef>
                <a:spcPts val="0"/>
              </a:spcBef>
              <a:buNone/>
            </a:lvl6pPr>
            <a:lvl7pPr marL="0" lvl="6" indent="0" algn="r" rtl="0">
              <a:spcBef>
                <a:spcPts val="0"/>
              </a:spcBef>
              <a:buNone/>
            </a:lvl7pPr>
            <a:lvl8pPr marL="0" lvl="7" indent="0" algn="r" rtl="0">
              <a:spcBef>
                <a:spcPts val="0"/>
              </a:spcBef>
              <a:buNone/>
            </a:lvl8pPr>
            <a:lvl9pPr marL="0" lvl="8" indent="0" algn="r" rtl="0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2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 panose="020B0604030504040204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63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48664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65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66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</a:lvl1pPr>
            <a:lvl2pPr marL="0" lvl="1" indent="0" algn="r" rtl="0">
              <a:spcBef>
                <a:spcPts val="0"/>
              </a:spcBef>
              <a:buNone/>
            </a:lvl2pPr>
            <a:lvl3pPr marL="0" lvl="2" indent="0" algn="r" rtl="0">
              <a:spcBef>
                <a:spcPts val="0"/>
              </a:spcBef>
              <a:buNone/>
            </a:lvl3pPr>
            <a:lvl4pPr marL="0" lvl="3" indent="0" algn="r" rtl="0">
              <a:spcBef>
                <a:spcPts val="0"/>
              </a:spcBef>
              <a:buNone/>
            </a:lvl4pPr>
            <a:lvl5pPr marL="0" lvl="4" indent="0" algn="r" rtl="0">
              <a:spcBef>
                <a:spcPts val="0"/>
              </a:spcBef>
              <a:buNone/>
            </a:lvl5pPr>
            <a:lvl6pPr marL="0" lvl="5" indent="0" algn="r" rtl="0">
              <a:spcBef>
                <a:spcPts val="0"/>
              </a:spcBef>
              <a:buNone/>
            </a:lvl6pPr>
            <a:lvl7pPr marL="0" lvl="6" indent="0" algn="r" rtl="0">
              <a:spcBef>
                <a:spcPts val="0"/>
              </a:spcBef>
              <a:buNone/>
            </a:lvl7pPr>
            <a:lvl8pPr marL="0" lvl="7" indent="0" algn="r" rtl="0">
              <a:spcBef>
                <a:spcPts val="0"/>
              </a:spcBef>
              <a:buNone/>
            </a:lvl8pPr>
            <a:lvl9pPr marL="0" lvl="8" indent="0" algn="r" rtl="0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7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68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048669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048670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71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72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</a:lvl1pPr>
            <a:lvl2pPr marL="0" lvl="1" indent="0" algn="r" rtl="0">
              <a:spcBef>
                <a:spcPts val="0"/>
              </a:spcBef>
              <a:buNone/>
            </a:lvl2pPr>
            <a:lvl3pPr marL="0" lvl="2" indent="0" algn="r" rtl="0">
              <a:spcBef>
                <a:spcPts val="0"/>
              </a:spcBef>
              <a:buNone/>
            </a:lvl3pPr>
            <a:lvl4pPr marL="0" lvl="3" indent="0" algn="r" rtl="0">
              <a:spcBef>
                <a:spcPts val="0"/>
              </a:spcBef>
              <a:buNone/>
            </a:lvl4pPr>
            <a:lvl5pPr marL="0" lvl="4" indent="0" algn="r" rtl="0">
              <a:spcBef>
                <a:spcPts val="0"/>
              </a:spcBef>
              <a:buNone/>
            </a:lvl5pPr>
            <a:lvl6pPr marL="0" lvl="5" indent="0" algn="r" rtl="0">
              <a:spcBef>
                <a:spcPts val="0"/>
              </a:spcBef>
              <a:buNone/>
            </a:lvl6pPr>
            <a:lvl7pPr marL="0" lvl="6" indent="0" algn="r" rtl="0">
              <a:spcBef>
                <a:spcPts val="0"/>
              </a:spcBef>
              <a:buNone/>
            </a:lvl7pPr>
            <a:lvl8pPr marL="0" lvl="7" indent="0" algn="r" rtl="0">
              <a:spcBef>
                <a:spcPts val="0"/>
              </a:spcBef>
              <a:buNone/>
            </a:lvl8pPr>
            <a:lvl9pPr marL="0" lvl="8" indent="0" algn="r" rtl="0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3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74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48675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048676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48677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048678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79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80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</a:lvl1pPr>
            <a:lvl2pPr marL="0" lvl="1" indent="0" algn="r" rtl="0">
              <a:spcBef>
                <a:spcPts val="0"/>
              </a:spcBef>
              <a:buNone/>
            </a:lvl2pPr>
            <a:lvl3pPr marL="0" lvl="2" indent="0" algn="r" rtl="0">
              <a:spcBef>
                <a:spcPts val="0"/>
              </a:spcBef>
              <a:buNone/>
            </a:lvl3pPr>
            <a:lvl4pPr marL="0" lvl="3" indent="0" algn="r" rtl="0">
              <a:spcBef>
                <a:spcPts val="0"/>
              </a:spcBef>
              <a:buNone/>
            </a:lvl4pPr>
            <a:lvl5pPr marL="0" lvl="4" indent="0" algn="r" rtl="0">
              <a:spcBef>
                <a:spcPts val="0"/>
              </a:spcBef>
              <a:buNone/>
            </a:lvl5pPr>
            <a:lvl6pPr marL="0" lvl="5" indent="0" algn="r" rtl="0">
              <a:spcBef>
                <a:spcPts val="0"/>
              </a:spcBef>
              <a:buNone/>
            </a:lvl6pPr>
            <a:lvl7pPr marL="0" lvl="6" indent="0" algn="r" rtl="0">
              <a:spcBef>
                <a:spcPts val="0"/>
              </a:spcBef>
              <a:buNone/>
            </a:lvl7pPr>
            <a:lvl8pPr marL="0" lvl="7" indent="0" algn="r" rtl="0">
              <a:spcBef>
                <a:spcPts val="0"/>
              </a:spcBef>
              <a:buNone/>
            </a:lvl8pPr>
            <a:lvl9pPr marL="0" lvl="8" indent="0" algn="r" rtl="0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3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4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5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</a:lvl1pPr>
            <a:lvl2pPr marL="0" lvl="1" indent="0" algn="r" rtl="0">
              <a:spcBef>
                <a:spcPts val="0"/>
              </a:spcBef>
              <a:buNone/>
            </a:lvl2pPr>
            <a:lvl3pPr marL="0" lvl="2" indent="0" algn="r" rtl="0">
              <a:spcBef>
                <a:spcPts val="0"/>
              </a:spcBef>
              <a:buNone/>
            </a:lvl3pPr>
            <a:lvl4pPr marL="0" lvl="3" indent="0" algn="r" rtl="0">
              <a:spcBef>
                <a:spcPts val="0"/>
              </a:spcBef>
              <a:buNone/>
            </a:lvl4pPr>
            <a:lvl5pPr marL="0" lvl="4" indent="0" algn="r" rtl="0">
              <a:spcBef>
                <a:spcPts val="0"/>
              </a:spcBef>
              <a:buNone/>
            </a:lvl5pPr>
            <a:lvl6pPr marL="0" lvl="5" indent="0" algn="r" rtl="0">
              <a:spcBef>
                <a:spcPts val="0"/>
              </a:spcBef>
              <a:buNone/>
            </a:lvl6pPr>
            <a:lvl7pPr marL="0" lvl="6" indent="0" algn="r" rtl="0">
              <a:spcBef>
                <a:spcPts val="0"/>
              </a:spcBef>
              <a:buNone/>
            </a:lvl7pPr>
            <a:lvl8pPr marL="0" lvl="7" indent="0" algn="r" rtl="0">
              <a:spcBef>
                <a:spcPts val="0"/>
              </a:spcBef>
              <a:buNone/>
            </a:lvl8pPr>
            <a:lvl9pPr marL="0" lvl="8" indent="0" algn="r" rtl="0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  <p:pic>
        <p:nvPicPr>
          <p:cNvPr id="2097158" name="Google Shape;52;p7" descr="C:\Users\AMMU\Desktop\Border.png"/>
          <p:cNvPicPr preferRelativeResize="0">
            <a:picLocks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1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 panose="020B0604030504040204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82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048683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048684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85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86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</a:lvl1pPr>
            <a:lvl2pPr marL="0" lvl="1" indent="0" algn="r" rtl="0">
              <a:spcBef>
                <a:spcPts val="0"/>
              </a:spcBef>
              <a:buNone/>
            </a:lvl2pPr>
            <a:lvl3pPr marL="0" lvl="2" indent="0" algn="r" rtl="0">
              <a:spcBef>
                <a:spcPts val="0"/>
              </a:spcBef>
              <a:buNone/>
            </a:lvl3pPr>
            <a:lvl4pPr marL="0" lvl="3" indent="0" algn="r" rtl="0">
              <a:spcBef>
                <a:spcPts val="0"/>
              </a:spcBef>
              <a:buNone/>
            </a:lvl4pPr>
            <a:lvl5pPr marL="0" lvl="4" indent="0" algn="r" rtl="0">
              <a:spcBef>
                <a:spcPts val="0"/>
              </a:spcBef>
              <a:buNone/>
            </a:lvl5pPr>
            <a:lvl6pPr marL="0" lvl="5" indent="0" algn="r" rtl="0">
              <a:spcBef>
                <a:spcPts val="0"/>
              </a:spcBef>
              <a:buNone/>
            </a:lvl6pPr>
            <a:lvl7pPr marL="0" lvl="6" indent="0" algn="r" rtl="0">
              <a:spcBef>
                <a:spcPts val="0"/>
              </a:spcBef>
              <a:buNone/>
            </a:lvl7pPr>
            <a:lvl8pPr marL="0" lvl="7" indent="0" algn="r" rtl="0">
              <a:spcBef>
                <a:spcPts val="0"/>
              </a:spcBef>
              <a:buNone/>
            </a:lvl8pPr>
            <a:lvl9pPr marL="0" lvl="8" indent="0" algn="r" rtl="0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1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 panose="020B0604030504040204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2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048653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048654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5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6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</a:lvl1pPr>
            <a:lvl2pPr marL="0" lvl="1" indent="0" algn="r" rtl="0">
              <a:spcBef>
                <a:spcPts val="0"/>
              </a:spcBef>
              <a:buNone/>
            </a:lvl2pPr>
            <a:lvl3pPr marL="0" lvl="2" indent="0" algn="r" rtl="0">
              <a:spcBef>
                <a:spcPts val="0"/>
              </a:spcBef>
              <a:buNone/>
            </a:lvl3pPr>
            <a:lvl4pPr marL="0" lvl="3" indent="0" algn="r" rtl="0">
              <a:spcBef>
                <a:spcPts val="0"/>
              </a:spcBef>
              <a:buNone/>
            </a:lvl4pPr>
            <a:lvl5pPr marL="0" lvl="4" indent="0" algn="r" rtl="0">
              <a:spcBef>
                <a:spcPts val="0"/>
              </a:spcBef>
              <a:buNone/>
            </a:lvl5pPr>
            <a:lvl6pPr marL="0" lvl="5" indent="0" algn="r" rtl="0">
              <a:spcBef>
                <a:spcPts val="0"/>
              </a:spcBef>
              <a:buNone/>
            </a:lvl6pPr>
            <a:lvl7pPr marL="0" lvl="6" indent="0" algn="r" rtl="0">
              <a:spcBef>
                <a:spcPts val="0"/>
              </a:spcBef>
              <a:buNone/>
            </a:lvl7pPr>
            <a:lvl8pPr marL="0" lvl="7" indent="0" algn="r" rtl="0">
              <a:spcBef>
                <a:spcPts val="0"/>
              </a:spcBef>
              <a:buNone/>
            </a:lvl8pPr>
            <a:lvl9pPr marL="0" lvl="8" indent="0" algn="r" rtl="0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7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8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9pPr>
          </a:lstStyle>
          <a:p>
            <a:endParaRPr/>
          </a:p>
        </p:txBody>
      </p:sp>
      <p:sp>
        <p:nvSpPr>
          <p:cNvPr id="1048659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60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61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</a:lvl1pPr>
            <a:lvl2pPr marL="0" lvl="1" indent="0" algn="r" rtl="0">
              <a:spcBef>
                <a:spcPts val="0"/>
              </a:spcBef>
              <a:buNone/>
            </a:lvl2pPr>
            <a:lvl3pPr marL="0" lvl="2" indent="0" algn="r" rtl="0">
              <a:spcBef>
                <a:spcPts val="0"/>
              </a:spcBef>
              <a:buNone/>
            </a:lvl3pPr>
            <a:lvl4pPr marL="0" lvl="3" indent="0" algn="r" rtl="0">
              <a:spcBef>
                <a:spcPts val="0"/>
              </a:spcBef>
              <a:buNone/>
            </a:lvl4pPr>
            <a:lvl5pPr marL="0" lvl="4" indent="0" algn="r" rtl="0">
              <a:spcBef>
                <a:spcPts val="0"/>
              </a:spcBef>
              <a:buNone/>
            </a:lvl5pPr>
            <a:lvl6pPr marL="0" lvl="5" indent="0" algn="r" rtl="0">
              <a:spcBef>
                <a:spcPts val="0"/>
              </a:spcBef>
              <a:buNone/>
            </a:lvl6pPr>
            <a:lvl7pPr marL="0" lvl="6" indent="0" algn="r" rtl="0">
              <a:spcBef>
                <a:spcPts val="0"/>
              </a:spcBef>
              <a:buNone/>
            </a:lvl7pPr>
            <a:lvl8pPr marL="0" lvl="7" indent="0" algn="r" rtl="0">
              <a:spcBef>
                <a:spcPts val="0"/>
              </a:spcBef>
              <a:buNone/>
            </a:lvl8pPr>
            <a:lvl9pPr marL="0" lvl="8" indent="0" algn="r" rtl="0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6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7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9pPr>
          </a:lstStyle>
          <a:p>
            <a:endParaRPr/>
          </a:p>
        </p:txBody>
      </p:sp>
      <p:sp>
        <p:nvSpPr>
          <p:cNvPr id="1048648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9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0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</a:lvl1pPr>
            <a:lvl2pPr marL="0" lvl="1" indent="0" algn="r" rtl="0">
              <a:spcBef>
                <a:spcPts val="0"/>
              </a:spcBef>
              <a:buNone/>
            </a:lvl2pPr>
            <a:lvl3pPr marL="0" lvl="2" indent="0" algn="r" rtl="0">
              <a:spcBef>
                <a:spcPts val="0"/>
              </a:spcBef>
              <a:buNone/>
            </a:lvl3pPr>
            <a:lvl4pPr marL="0" lvl="3" indent="0" algn="r" rtl="0">
              <a:spcBef>
                <a:spcPts val="0"/>
              </a:spcBef>
              <a:buNone/>
            </a:lvl4pPr>
            <a:lvl5pPr marL="0" lvl="4" indent="0" algn="r" rtl="0">
              <a:spcBef>
                <a:spcPts val="0"/>
              </a:spcBef>
              <a:buNone/>
            </a:lvl5pPr>
            <a:lvl6pPr marL="0" lvl="5" indent="0" algn="r" rtl="0">
              <a:spcBef>
                <a:spcPts val="0"/>
              </a:spcBef>
              <a:buNone/>
            </a:lvl6pPr>
            <a:lvl7pPr marL="0" lvl="6" indent="0" algn="r" rtl="0">
              <a:spcBef>
                <a:spcPts val="0"/>
              </a:spcBef>
              <a:buNone/>
            </a:lvl7pPr>
            <a:lvl8pPr marL="0" lvl="7" indent="0" algn="r" rtl="0">
              <a:spcBef>
                <a:spcPts val="0"/>
              </a:spcBef>
              <a:buNone/>
            </a:lvl8pPr>
            <a:lvl9pPr marL="0" lvl="8" indent="0" algn="r" rtl="0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 sz="2800" b="1" i="0" u="none" strike="noStrike" cap="none">
                <a:solidFill>
                  <a:srgbClr val="FF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4857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–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>
            <a:endParaRPr/>
          </a:p>
        </p:txBody>
      </p:sp>
      <p:sp>
        <p:nvSpPr>
          <p:cNvPr id="104857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>
            <a:endParaRPr/>
          </a:p>
        </p:txBody>
      </p:sp>
      <p:sp>
        <p:nvSpPr>
          <p:cNvPr id="104857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>
            <a:endParaRPr/>
          </a:p>
        </p:txBody>
      </p:sp>
      <p:sp>
        <p:nvSpPr>
          <p:cNvPr id="104858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  <p:cxnSp>
        <p:nvCxnSpPr>
          <p:cNvPr id="3145728" name="Google Shape;11;p1"/>
          <p:cNvCxnSpPr>
            <a:cxnSpLocks/>
          </p:cNvCxnSpPr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097152" name="Google Shape;12;p1"/>
          <p:cNvPicPr preferRelativeResize="0">
            <a:picLocks/>
          </p:cNvPicPr>
          <p:nvPr/>
        </p:nvPicPr>
        <p:blipFill rotWithShape="1">
          <a:blip r:embed="rId12"/>
          <a:srcRect b="18046"/>
          <a:stretch>
            <a:fillRect/>
          </a:stretch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Google Shape;87;p13"/>
          <p:cNvSpPr txBox="1">
            <a:spLocks noGrp="1"/>
          </p:cNvSpPr>
          <p:nvPr>
            <p:ph type="ctrTitle"/>
          </p:nvPr>
        </p:nvSpPr>
        <p:spPr>
          <a:xfrm>
            <a:off x="790468" y="1069102"/>
            <a:ext cx="11083083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ts val="4200"/>
              </a:lnSpc>
            </a:pPr>
            <a:r>
              <a:rPr lang="en-US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GIS-Integrated Machine Learning Framework for Urban Flood</a:t>
            </a:r>
            <a:br>
              <a:rPr lang="en-US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</a:br>
            <a:r>
              <a:rPr lang="en-US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 and Real-Time Alert System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48594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4110749" y="2184225"/>
            <a:ext cx="3970500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Project Number:</a:t>
            </a:r>
            <a:r>
              <a:rPr lang="en-US" altLang="en-GB" dirty="0">
                <a:latin typeface="Cambria" panose="02040503050406030204" pitchFamily="18" charset="0"/>
                <a:ea typeface="Cambria" panose="02040503050406030204" pitchFamily="18" charset="0"/>
              </a:rPr>
              <a:t> PRJ_363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lvl="0" indent="0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4194304" name="Google Shape;89;p1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15906662"/>
              </p:ext>
            </p:extLst>
          </p:nvPr>
        </p:nvGraphicFramePr>
        <p:xfrm>
          <a:off x="3386772" y="2769775"/>
          <a:ext cx="5418455" cy="1463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4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Roll Number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Student Name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800" u="none" strike="noStrike" cap="none" dirty="0"/>
                        <a:t>20221COM0119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Sagar. P</a:t>
                      </a: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20221COM0087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 err="1"/>
                        <a:t>Duddukuri</a:t>
                      </a:r>
                      <a:r>
                        <a:rPr lang="en-US" sz="1800" u="none" strike="noStrike" cap="none" dirty="0"/>
                        <a:t> Sri Aditya</a:t>
                      </a: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20231CSN0053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800" u="none" strike="noStrike" cap="none" dirty="0" err="1"/>
                        <a:t>Veluru</a:t>
                      </a:r>
                      <a:r>
                        <a:rPr lang="en-US" altLang="en-US" sz="1800" u="none" strike="noStrike" cap="none" dirty="0"/>
                        <a:t> Rahul</a:t>
                      </a: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48596" name="Google Shape;91;p13"/>
          <p:cNvSpPr txBox="1"/>
          <p:nvPr/>
        </p:nvSpPr>
        <p:spPr>
          <a:xfrm>
            <a:off x="3986771" y="334089"/>
            <a:ext cx="5425083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CSS7102- MINI  PROJECT REVIEW-0</a:t>
            </a:r>
          </a:p>
        </p:txBody>
      </p:sp>
      <p:sp>
        <p:nvSpPr>
          <p:cNvPr id="1048597" name="Google Shape;91;p13"/>
          <p:cNvSpPr txBox="1"/>
          <p:nvPr/>
        </p:nvSpPr>
        <p:spPr>
          <a:xfrm>
            <a:off x="790468" y="4826000"/>
            <a:ext cx="7913574" cy="1200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numCol="1" anchor="t" anchorCtr="0">
            <a:noAutofit/>
          </a:bodyPr>
          <a:lstStyle/>
          <a:p>
            <a:pPr algn="just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</a:t>
            </a:r>
            <a:r>
              <a:rPr lang="en-US" sz="2000" b="1" dirty="0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HoD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: </a:t>
            </a:r>
            <a:r>
              <a:rPr lang="en-US" altLang="en-US" sz="2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 Gopal K Shyam</a:t>
            </a:r>
          </a:p>
          <a:p>
            <a:pPr algn="just">
              <a:buClr>
                <a:srgbClr val="17365D"/>
              </a:buClr>
              <a:buSzPct val="100000"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Program Project Coordinator: </a:t>
            </a:r>
            <a:r>
              <a:rPr lang="en-US" altLang="en-GB" sz="2000" b="1" dirty="0" err="1">
                <a:solidFill>
                  <a:srgbClr val="36363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Ms.Sumita</a:t>
            </a:r>
            <a:r>
              <a:rPr lang="en-US" altLang="en-GB" sz="2000" b="1" dirty="0">
                <a:solidFill>
                  <a:srgbClr val="36363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</a:t>
            </a:r>
            <a:r>
              <a:rPr lang="en-US" altLang="en-GB" sz="2000" b="1" dirty="0" err="1">
                <a:solidFill>
                  <a:srgbClr val="36363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Guddin</a:t>
            </a:r>
            <a:endParaRPr lang="en-US" altLang="en-GB" sz="2000" b="1" dirty="0">
              <a:solidFill>
                <a:srgbClr val="36363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algn="just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Guide Name: </a:t>
            </a:r>
            <a:r>
              <a:rPr lang="en-US" sz="2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Pathan Tasneem Farhana</a:t>
            </a:r>
            <a:endParaRPr lang="en-US"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5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GB" sz="3600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</a:p>
        </p:txBody>
      </p:sp>
      <p:sp>
        <p:nvSpPr>
          <p:cNvPr id="1048606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86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</a:pP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Problem Statement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</a:pPr>
            <a:r>
              <a:rPr lang="en-IN" sz="2800" b="1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Technology stack</a:t>
            </a:r>
            <a:endParaRPr lang="en-US" sz="2800" b="1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</a:pP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Analysis of Problem Statement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</a:pP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Timeline of the Project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</a:pP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9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GB" sz="36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PROBLEM STATEMENT NUMBER: </a:t>
            </a:r>
            <a:r>
              <a:rPr lang="en-US" altLang="en-GB" sz="36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altLang="en-GB" sz="3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PRJ_363</a:t>
            </a:r>
          </a:p>
        </p:txBody>
      </p:sp>
      <p:sp>
        <p:nvSpPr>
          <p:cNvPr id="1048610" name="Google Shape;97;p14"/>
          <p:cNvSpPr txBox="1">
            <a:spLocks noGrp="1"/>
          </p:cNvSpPr>
          <p:nvPr>
            <p:ph type="body" idx="1"/>
          </p:nvPr>
        </p:nvSpPr>
        <p:spPr>
          <a:xfrm>
            <a:off x="572770" y="1143000"/>
            <a:ext cx="11045825" cy="5121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55000" lnSpcReduction="20000"/>
          </a:bodyPr>
          <a:lstStyle/>
          <a:p>
            <a:pPr marL="76200" indent="0">
              <a:buNone/>
            </a:pPr>
            <a:r>
              <a:rPr lang="en-IN" sz="3600" b="1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Problem:</a:t>
            </a:r>
            <a:r>
              <a:rPr lang="en-IN" sz="36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Urban flooding is becoming difficult to predict because of heavy rainfall, poor drainage, rapid urbanization, and changes in land use. Traditional flood-warning methods may not provide sufficiently localized or timely predictions.</a:t>
            </a:r>
          </a:p>
          <a:p>
            <a:pPr marL="76200" indent="0">
              <a:buNone/>
            </a:pPr>
            <a:endParaRPr lang="en-IN" sz="36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76200" indent="0">
              <a:buNone/>
            </a:pPr>
            <a:r>
              <a:rPr lang="en-IN" sz="3600" b="1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Proposed solution:</a:t>
            </a:r>
            <a:r>
              <a:rPr lang="en-IN" sz="36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Develop a </a:t>
            </a:r>
            <a:r>
              <a:rPr lang="en-IN" sz="3600" b="1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GIS-integrated machine learning framework</a:t>
            </a:r>
            <a:r>
              <a:rPr lang="en-IN" sz="36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that combines rainfall, geographical, drainage, elevation, land-use, and other relevant data to predict urban flood risk. The system can classify areas according to flood risk and generate </a:t>
            </a:r>
            <a:r>
              <a:rPr lang="en-IN" sz="3600" b="1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real-time alerts</a:t>
            </a:r>
            <a:r>
              <a:rPr lang="en-IN" sz="36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when dangerous conditions are detected.</a:t>
            </a:r>
          </a:p>
          <a:p>
            <a:pPr marL="76200" indent="0">
              <a:buNone/>
            </a:pPr>
            <a:endParaRPr lang="en-IN" sz="36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76200" indent="0">
              <a:buNone/>
            </a:pPr>
            <a:r>
              <a:rPr lang="en-IN" sz="3600" b="1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Main objectives:</a:t>
            </a:r>
            <a:endParaRPr lang="en-IN" sz="36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lvl="0"/>
            <a:r>
              <a:rPr lang="en-IN" sz="36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Predict the possibility and severity of urban flooding. </a:t>
            </a:r>
          </a:p>
          <a:p>
            <a:pPr lvl="0"/>
            <a:r>
              <a:rPr lang="en-IN" sz="36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Identify high-risk geographical areas using GIS. </a:t>
            </a:r>
          </a:p>
          <a:p>
            <a:pPr lvl="0"/>
            <a:r>
              <a:rPr lang="en-IN" sz="36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Integrate historical and real-time environmental data. </a:t>
            </a:r>
          </a:p>
          <a:p>
            <a:pPr lvl="0"/>
            <a:r>
              <a:rPr lang="en-IN" sz="36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Apply ML algorithms for flood-risk prediction. </a:t>
            </a:r>
          </a:p>
          <a:p>
            <a:pPr lvl="0"/>
            <a:r>
              <a:rPr lang="en-IN" sz="36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Display predicted flood-prone areas on a GIS map. </a:t>
            </a:r>
          </a:p>
          <a:p>
            <a:pPr lvl="0"/>
            <a:r>
              <a:rPr lang="en-IN" sz="36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Generate timely alerts for users/authorities.</a:t>
            </a:r>
          </a:p>
          <a:p>
            <a:pPr marL="342900" lvl="0" indent="-190500" algn="just">
              <a:lnSpc>
                <a:spcPct val="140000"/>
              </a:lnSpc>
              <a:spcBef>
                <a:spcPts val="0"/>
              </a:spcBef>
              <a:buNone/>
            </a:pPr>
            <a:endParaRPr lang="en-US" sz="3285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3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IN" sz="36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TECHNOLOGY STACK</a:t>
            </a:r>
            <a:endParaRPr lang="en-US" sz="36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1048614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48615" name="Google Shape;115;p17"/>
          <p:cNvSpPr txBox="1"/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–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48616" name="Google Shape;115;p17"/>
          <p:cNvSpPr txBox="1"/>
          <p:nvPr/>
        </p:nvSpPr>
        <p:spPr>
          <a:xfrm>
            <a:off x="558800" y="911126"/>
            <a:ext cx="10820400" cy="3984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–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>
            <a:pPr marL="495300" indent="-342900" algn="just">
              <a:lnSpc>
                <a:spcPct val="200000"/>
              </a:lnSpc>
              <a:spcBef>
                <a:spcPts val="0"/>
              </a:spcBef>
              <a:buSzPct val="100000"/>
            </a:pP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Python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→ data processing &amp; ML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SzPct val="100000"/>
            </a:pP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Pandas/NumPy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→ data handling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SzPct val="100000"/>
            </a:pP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Scikit-learn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→ ML models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SzPct val="100000"/>
            </a:pPr>
            <a:r>
              <a:rPr lang="en-IN" sz="2000" b="1" dirty="0" err="1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GeoPandas</a:t>
            </a: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/QGIS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→ GIS processing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SzPct val="100000"/>
            </a:pP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Matplotlib/Folium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→ visualization and maps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SzPct val="100000"/>
            </a:pP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Flask/</a:t>
            </a:r>
            <a:r>
              <a:rPr lang="en-IN" sz="2000" b="1" dirty="0" err="1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FastAPI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→ prediction API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SzPct val="100000"/>
            </a:pP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IoT/weather API or sensor data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→ real-time inputs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SzPct val="100000"/>
            </a:pP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GitHub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→ project/version management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9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898267-BE06-3242-1327-C19F7F304B79}"/>
              </a:ext>
            </a:extLst>
          </p:cNvPr>
          <p:cNvSpPr/>
          <p:nvPr/>
        </p:nvSpPr>
        <p:spPr>
          <a:xfrm>
            <a:off x="1" y="900752"/>
            <a:ext cx="12191999" cy="59901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9B7B276-9C9B-334A-EDE1-C9CD3A7E30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9323111"/>
              </p:ext>
            </p:extLst>
          </p:nvPr>
        </p:nvGraphicFramePr>
        <p:xfrm>
          <a:off x="568656" y="1069677"/>
          <a:ext cx="11054688" cy="5513685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5527344">
                  <a:extLst>
                    <a:ext uri="{9D8B030D-6E8A-4147-A177-3AD203B41FA5}">
                      <a16:colId xmlns:a16="http://schemas.microsoft.com/office/drawing/2014/main" val="67007956"/>
                    </a:ext>
                  </a:extLst>
                </a:gridCol>
                <a:gridCol w="5527344">
                  <a:extLst>
                    <a:ext uri="{9D8B030D-6E8A-4147-A177-3AD203B41FA5}">
                      <a16:colId xmlns:a16="http://schemas.microsoft.com/office/drawing/2014/main" val="1755790322"/>
                    </a:ext>
                  </a:extLst>
                </a:gridCol>
              </a:tblGrid>
              <a:tr h="3790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ASPECT</a:t>
                      </a:r>
                      <a:endParaRPr lang="en-IN" sz="1800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ANALYSIS</a:t>
                      </a:r>
                      <a:endParaRPr lang="en-IN" sz="1800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6728212"/>
                  </a:ext>
                </a:extLst>
              </a:tr>
              <a:tr h="6633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0" dirty="0"/>
                        <a:t>Existing problem</a:t>
                      </a:r>
                      <a:endParaRPr lang="en-IN" sz="1800" b="0" dirty="0"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Urban floods cause damage to infrastructure, transportation and property.</a:t>
                      </a:r>
                      <a:endParaRPr lang="en-IN" sz="1800" dirty="0"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4675132"/>
                  </a:ext>
                </a:extLst>
              </a:tr>
              <a:tr h="6732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0" dirty="0"/>
                        <a:t>Major causes</a:t>
                      </a:r>
                      <a:endParaRPr lang="en-IN" sz="1800" b="0" dirty="0"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Heavy rainfall, inadequate drainage, urbanization, low-lying terrain and land-use changes.</a:t>
                      </a:r>
                      <a:endParaRPr lang="en-IN" sz="1800"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9075776"/>
                  </a:ext>
                </a:extLst>
              </a:tr>
              <a:tr h="6732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0" dirty="0"/>
                        <a:t>Data required</a:t>
                      </a:r>
                      <a:endParaRPr lang="en-IN" sz="1800" b="0" dirty="0"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Rainfall, elevation, slope, drainage, land use/land cover, water levels and historical flood records.</a:t>
                      </a:r>
                      <a:endParaRPr lang="en-IN" sz="1800"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575047"/>
                  </a:ext>
                </a:extLst>
              </a:tr>
              <a:tr h="6633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0" dirty="0"/>
                        <a:t>GIS role</a:t>
                      </a:r>
                      <a:endParaRPr lang="en-IN" sz="1800" b="0" dirty="0"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Maps geographical characteristics and identifies spatially vulnerable areas.</a:t>
                      </a:r>
                      <a:endParaRPr lang="en-IN" sz="1800" dirty="0"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7054473"/>
                  </a:ext>
                </a:extLst>
              </a:tr>
              <a:tr h="6633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0" dirty="0"/>
                        <a:t>ML role</a:t>
                      </a:r>
                      <a:endParaRPr lang="en-IN" sz="1800" b="0" dirty="0"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Learns patterns from historical/environmental data and predicts flood risk.</a:t>
                      </a:r>
                      <a:endParaRPr lang="en-IN" sz="1800"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6203574"/>
                  </a:ext>
                </a:extLst>
              </a:tr>
              <a:tr h="6633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0" dirty="0"/>
                        <a:t>Real-time component</a:t>
                      </a:r>
                      <a:endParaRPr lang="en-IN" sz="1800" b="0" dirty="0"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Continuously uses incoming weather/sensor data to update risk predictions.</a:t>
                      </a:r>
                      <a:endParaRPr lang="en-IN" sz="1800"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4061039"/>
                  </a:ext>
                </a:extLst>
              </a:tr>
              <a:tr h="4712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0" dirty="0"/>
                        <a:t>Output</a:t>
                      </a:r>
                      <a:endParaRPr lang="en-IN" sz="1800" b="0" dirty="0"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Flood-risk level, vulnerable locations and alerts.</a:t>
                      </a:r>
                      <a:endParaRPr lang="en-IN" sz="1800"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9770030"/>
                  </a:ext>
                </a:extLst>
              </a:tr>
              <a:tr h="6633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0" dirty="0"/>
                        <a:t>Expected benefit</a:t>
                      </a:r>
                      <a:endParaRPr lang="en-IN" sz="1800" b="0" dirty="0"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Earlier warnings and better decision-making for disaster management.</a:t>
                      </a:r>
                      <a:endParaRPr lang="en-IN" sz="1800" dirty="0"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966114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3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 (CONTD...)</a:t>
            </a:r>
          </a:p>
        </p:txBody>
      </p:sp>
      <p:sp>
        <p:nvSpPr>
          <p:cNvPr id="1048624" name="Google Shape;115;p17"/>
          <p:cNvSpPr txBox="1">
            <a:spLocks noGrp="1"/>
          </p:cNvSpPr>
          <p:nvPr>
            <p:ph type="body" idx="1"/>
          </p:nvPr>
        </p:nvSpPr>
        <p:spPr>
          <a:xfrm>
            <a:off x="762000" y="2231572"/>
            <a:ext cx="10668000" cy="2422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5000"/>
          </a:bodyPr>
          <a:lstStyle/>
          <a:p>
            <a:pPr marL="76200" indent="0" algn="ctr">
              <a:buNone/>
            </a:pPr>
            <a:r>
              <a:rPr lang="en-IN" b="1" dirty="0"/>
              <a:t>SUGGESTED WORKFLOW</a:t>
            </a:r>
            <a:endParaRPr lang="en-IN" dirty="0"/>
          </a:p>
          <a:p>
            <a:r>
              <a:rPr lang="en-IN" b="1" dirty="0"/>
              <a:t>Data Collection → Data Cleaning → GIS Processing → Feature Engineering → ML Model → Flood-Risk Prediction → GIS Visualization → Real-Time Alert</a:t>
            </a:r>
            <a:endParaRPr lang="en-IN" dirty="0"/>
          </a:p>
          <a:p>
            <a:pPr marL="342900" lvl="0" indent="-190500" algn="just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7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GB" sz="3600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1822B5C-B2D2-8C75-DDED-CD5B0B1D6B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3536823"/>
              </p:ext>
            </p:extLst>
          </p:nvPr>
        </p:nvGraphicFramePr>
        <p:xfrm>
          <a:off x="11168" y="1123797"/>
          <a:ext cx="12169664" cy="48415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2416">
                  <a:extLst>
                    <a:ext uri="{9D8B030D-6E8A-4147-A177-3AD203B41FA5}">
                      <a16:colId xmlns:a16="http://schemas.microsoft.com/office/drawing/2014/main" val="1850109192"/>
                    </a:ext>
                  </a:extLst>
                </a:gridCol>
                <a:gridCol w="3042416">
                  <a:extLst>
                    <a:ext uri="{9D8B030D-6E8A-4147-A177-3AD203B41FA5}">
                      <a16:colId xmlns:a16="http://schemas.microsoft.com/office/drawing/2014/main" val="3055502256"/>
                    </a:ext>
                  </a:extLst>
                </a:gridCol>
                <a:gridCol w="3042416">
                  <a:extLst>
                    <a:ext uri="{9D8B030D-6E8A-4147-A177-3AD203B41FA5}">
                      <a16:colId xmlns:a16="http://schemas.microsoft.com/office/drawing/2014/main" val="2466766290"/>
                    </a:ext>
                  </a:extLst>
                </a:gridCol>
                <a:gridCol w="3042416">
                  <a:extLst>
                    <a:ext uri="{9D8B030D-6E8A-4147-A177-3AD203B41FA5}">
                      <a16:colId xmlns:a16="http://schemas.microsoft.com/office/drawing/2014/main" val="2841948193"/>
                    </a:ext>
                  </a:extLst>
                </a:gridCol>
              </a:tblGrid>
              <a:tr h="2683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Review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Work to be Completed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Expected Output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0560486"/>
                  </a:ext>
                </a:extLst>
              </a:tr>
              <a:tr h="6708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Review 1</a:t>
                      </a:r>
                      <a:endParaRPr lang="en-IN" sz="16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Week 1–2</a:t>
                      </a:r>
                      <a:endParaRPr lang="en-IN" sz="160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Finalize problem statement, objectives, literature survey, identify research gap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Problem statement + objectives + </a:t>
                      </a:r>
                      <a:r>
                        <a:rPr lang="en-IN" sz="1600" b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5–10 research papers</a:t>
                      </a:r>
                      <a:endParaRPr lang="en-IN" sz="160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4256898"/>
                  </a:ext>
                </a:extLst>
              </a:tr>
              <a:tr h="8721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Review 2</a:t>
                      </a:r>
                      <a:endParaRPr lang="en-IN" sz="16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Week 3–4</a:t>
                      </a:r>
                      <a:endParaRPr lang="en-IN" sz="160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Dataset collection, data preprocessing, GIS data preparation, identify important features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Clean dataset + GIS layers/maps + feature list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2982555"/>
                  </a:ext>
                </a:extLst>
              </a:tr>
              <a:tr h="8721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Review 3</a:t>
                      </a:r>
                      <a:endParaRPr lang="en-IN" sz="160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Week 5–6</a:t>
                      </a:r>
                      <a:endParaRPr lang="en-IN" sz="160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ML model selection, training and testing; compare algorithms such as RF, XGBoost/LSTM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Trained ML model + performance metrics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8533022"/>
                  </a:ext>
                </a:extLst>
              </a:tr>
              <a:tr h="8721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Review 4</a:t>
                      </a:r>
                      <a:endParaRPr lang="en-IN" sz="160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Week 7</a:t>
                      </a:r>
                      <a:endParaRPr lang="en-IN" sz="160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Integrate ML prediction with GIS visualization and develop real-time alert mechanism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Working prototype/dashboard + flood-risk map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0919540"/>
                  </a:ext>
                </a:extLst>
              </a:tr>
              <a:tr h="8721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Final Review</a:t>
                      </a:r>
                      <a:endParaRPr lang="en-IN" sz="16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Week 8</a:t>
                      </a:r>
                      <a:endParaRPr lang="en-IN" sz="160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Testing, validation, documentation, GitHub upload and presentation preparation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Final project + report + GitHub repository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462215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1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sz="3600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</p:txBody>
      </p:sp>
      <p:sp>
        <p:nvSpPr>
          <p:cNvPr id="1048632" name="Google Shape;145;p22"/>
          <p:cNvSpPr txBox="1">
            <a:spLocks noGrp="1"/>
          </p:cNvSpPr>
          <p:nvPr>
            <p:ph type="body" idx="1"/>
          </p:nvPr>
        </p:nvSpPr>
        <p:spPr>
          <a:xfrm>
            <a:off x="199572" y="1175658"/>
            <a:ext cx="11524342" cy="5407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76200" indent="0">
              <a:buNone/>
            </a:pP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[1] M. Motta, M. de Castro Neto, and P. Sarmento, “A mixed approach for urban flood prediction using machine learning and GIS,” </a:t>
            </a:r>
            <a:r>
              <a:rPr lang="en-IN" sz="1800" i="1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International Journal of Disaster Risk Reduction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, vol. 56, Art. no. 102154, 2021, </a:t>
            </a:r>
            <a:r>
              <a:rPr lang="en-IN" sz="1800" dirty="0" err="1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doi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: 10.1016/j.ijdrr.2021.102154. </a:t>
            </a:r>
          </a:p>
          <a:p>
            <a:pPr marL="76200" indent="0">
              <a:buNone/>
            </a:pP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[2] K. Qian, A. Mohamed, and C. Claudel, “Physics informed data driven model for flood prediction: Application of deep learning in prediction of urban flood development,” 2019. </a:t>
            </a:r>
          </a:p>
          <a:p>
            <a:pPr marL="76200" indent="0">
              <a:buNone/>
            </a:pP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[3] S. Nevo </a:t>
            </a:r>
            <a:r>
              <a:rPr lang="en-IN" sz="1800" i="1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et al.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, “Flood forecasting with machine learning models in an operational framework,” 2021. </a:t>
            </a:r>
          </a:p>
          <a:p>
            <a:pPr marL="76200" indent="0">
              <a:buNone/>
            </a:pP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[4] A. Y. Sun </a:t>
            </a:r>
            <a:r>
              <a:rPr lang="en-IN" sz="1800" i="1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et al.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, “Rapid flood inundation forecast using Fourier neural operator,” 2023. </a:t>
            </a:r>
          </a:p>
          <a:p>
            <a:pPr marL="76200" indent="0">
              <a:buNone/>
            </a:pP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[5] Z. Situ </a:t>
            </a:r>
            <a:r>
              <a:rPr lang="en-IN" sz="1800" i="1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et al.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, “Improving urban flood prediction using LSTM-DeepLabv3+ and Bayesian optimization with spatiotemporal feature fusion,” 2023. </a:t>
            </a:r>
          </a:p>
          <a:p>
            <a:pPr marL="76200" indent="0">
              <a:buNone/>
            </a:pP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[6] T. Xie, M. Zhang, J. Lian, H. Shen, and J. Wen, “A generalizable </a:t>
            </a:r>
            <a:r>
              <a:rPr lang="en-IN" sz="1800" dirty="0" err="1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WebGIS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–machine learning system for real-time urban flood forecasting,” </a:t>
            </a:r>
            <a:r>
              <a:rPr lang="en-IN" sz="1800" i="1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Urban Climate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, vol. 65, Art. no. 102741, 2026, </a:t>
            </a:r>
            <a:r>
              <a:rPr lang="en-IN" sz="1800" dirty="0" err="1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doi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: 10.1016/j.uclim.2025.102741. </a:t>
            </a:r>
          </a:p>
          <a:p>
            <a:pPr marL="76200" indent="0">
              <a:buNone/>
            </a:pP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[7] Q. Euler and C. </a:t>
            </a:r>
            <a:r>
              <a:rPr lang="en-IN" sz="1800" dirty="0" err="1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Gerlein-Safdi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, “Rethinking the flow: A canal-based machine learning approach to urban flood detection,” </a:t>
            </a:r>
            <a:r>
              <a:rPr lang="en-IN" sz="1800" i="1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IEEE Transactions on Geoscience and Remote Sensing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, 2026, </a:t>
            </a:r>
            <a:r>
              <a:rPr lang="en-IN" sz="1800" dirty="0" err="1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doi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: 10.1109/TGRS.2026.3671457. </a:t>
            </a:r>
          </a:p>
          <a:p>
            <a:pPr marL="76200" indent="0">
              <a:buNone/>
            </a:pP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[8] “A systematic review of urban flooding prediction models based on deep learning: Current trends and future directions,” in </a:t>
            </a:r>
            <a:r>
              <a:rPr lang="en-IN" sz="1800" i="1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Proc. IEEE ICAIEM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, pp. 147–152, 2025, </a:t>
            </a:r>
            <a:r>
              <a:rPr lang="en-IN" sz="1800" dirty="0" err="1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doi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: 10.1109/ICAIEM66060.2025.11139199.</a:t>
            </a:r>
          </a:p>
          <a:p>
            <a:pPr marL="495300" indent="-342900">
              <a:spcBef>
                <a:spcPts val="0"/>
              </a:spcBef>
            </a:pPr>
            <a:endParaRPr lang="en-US" altLang="en-US" sz="1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7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9DB7501-E7A5-4A5E-9591-28CEC63E740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885</Words>
  <Application>Microsoft Office PowerPoint</Application>
  <PresentationFormat>Widescreen</PresentationFormat>
  <Paragraphs>103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Cambria</vt:lpstr>
      <vt:lpstr>Verdana</vt:lpstr>
      <vt:lpstr>Bioinformatics</vt:lpstr>
      <vt:lpstr>GIS-Integrated Machine Learning Framework for Urban Flood Prediction and Real-Time Alert System</vt:lpstr>
      <vt:lpstr>CONTENT</vt:lpstr>
      <vt:lpstr>PROBLEM STATEMENT NUMBER:  PRJ_363</vt:lpstr>
      <vt:lpstr>TECHNOLOGY STACK</vt:lpstr>
      <vt:lpstr>ANALYSIS OF PROBLEM STATEMENT</vt:lpstr>
      <vt:lpstr>ANALYSIS OF PROBLEM STATEMENT (CONTD...)</vt:lpstr>
      <vt:lpstr>TIMELINE OF THE PROJECT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Duddukuri Sri Aditya</cp:lastModifiedBy>
  <cp:revision>1</cp:revision>
  <dcterms:created xsi:type="dcterms:W3CDTF">2026-08-06T00:12:50Z</dcterms:created>
  <dcterms:modified xsi:type="dcterms:W3CDTF">2026-08-23T14:02:45Z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0x010100FA8A2C149D477E4E814B4B477F0E243C</vt:lpwstr>
  </property>
  <property fmtid="{D5CDD505-2E9C-101B-9397-08002B2CF9AE}" pid="3" name="KSOProductBuildVer">
    <vt:lpwstr>1033-12.1.0.26880</vt:lpwstr>
  </property>
  <property fmtid="{D5CDD505-2E9C-101B-9397-08002B2CF9AE}" pid="4" name="ICV">
    <vt:lpwstr>38d4760965f249038afc9da5d59b17f5_23</vt:lpwstr>
  </property>
</Properties>
</file>