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9"/>
  </p:notesMasterIdLst>
  <p:sldIdLst>
    <p:sldId id="274" r:id="rId5"/>
    <p:sldId id="256" r:id="rId6"/>
    <p:sldId id="257" r:id="rId7"/>
    <p:sldId id="269" r:id="rId8"/>
    <p:sldId id="268" r:id="rId9"/>
    <p:sldId id="273" r:id="rId10"/>
    <p:sldId id="275" r:id="rId11"/>
    <p:sldId id="277" r:id="rId12"/>
    <p:sldId id="276" r:id="rId13"/>
    <p:sldId id="272" r:id="rId14"/>
    <p:sldId id="271" r:id="rId15"/>
    <p:sldId id="270" r:id="rId16"/>
    <p:sldId id="265" r:id="rId17"/>
    <p:sldId id="26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99B6F38-D768-A670-DEF3-8469058A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BCA4031-CC8F-236D-A27B-EA7F87420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5DF2172-DEF1-9770-F577-039FE9713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7761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17255E8-76FD-C420-1987-D13B1E67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9260288-5C20-329D-9AB3-D8C410F70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7C5EB74-31E0-ABB2-15A4-4FB1F28C8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3665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5D514E0-B1BE-2630-77D3-31C095E3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9E4099B-7B1F-A0FA-3ABB-CE9838C02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E08A7C6-D14D-41A9-F2DD-738662370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3338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2DD66-7A7B-3141-248C-33B219894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887" y="-20500"/>
            <a:ext cx="12264887" cy="6898999"/>
          </a:xfrm>
          <a:prstGeom prst="rect">
            <a:avLst/>
          </a:prstGeom>
        </p:spPr>
      </p:pic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5EEC80A-389A-0914-B331-80471CDD5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1615" y="52673"/>
            <a:ext cx="7779079" cy="1309350"/>
          </a:xfrm>
          <a:prstGeom prst="rect">
            <a:avLst/>
          </a:prstGeom>
        </p:spPr>
      </p:pic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EC0F06BD-D995-B09D-2B28-06CD559DF695}"/>
              </a:ext>
            </a:extLst>
          </p:cNvPr>
          <p:cNvSpPr/>
          <p:nvPr/>
        </p:nvSpPr>
        <p:spPr>
          <a:xfrm>
            <a:off x="-72888" y="5569149"/>
            <a:ext cx="12264887" cy="1309350"/>
          </a:xfrm>
          <a:prstGeom prst="roundRect">
            <a:avLst/>
          </a:prstGeom>
          <a:solidFill>
            <a:srgbClr val="08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FAE776-B1B4-1F6F-0EE9-2D02B291CE9E}"/>
              </a:ext>
            </a:extLst>
          </p:cNvPr>
          <p:cNvSpPr txBox="1"/>
          <p:nvPr/>
        </p:nvSpPr>
        <p:spPr>
          <a:xfrm>
            <a:off x="4748252" y="5447308"/>
            <a:ext cx="2860077" cy="7694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sz="4400" dirty="0"/>
              <a:t>Presidency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0268FC-2D4B-1595-4CC0-BF00B3A0E047}"/>
              </a:ext>
            </a:extLst>
          </p:cNvPr>
          <p:cNvSpPr/>
          <p:nvPr/>
        </p:nvSpPr>
        <p:spPr>
          <a:xfrm>
            <a:off x="4837363" y="6139774"/>
            <a:ext cx="2646802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FB6EA-449F-B759-D837-A2CDBD5E10E2}"/>
              </a:ext>
            </a:extLst>
          </p:cNvPr>
          <p:cNvSpPr txBox="1"/>
          <p:nvPr/>
        </p:nvSpPr>
        <p:spPr>
          <a:xfrm>
            <a:off x="2353623" y="6178261"/>
            <a:ext cx="79612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rPr sz="3200" dirty="0"/>
              <a:t>School of Computer Science</a:t>
            </a:r>
            <a:r>
              <a:rPr lang="en-IN" sz="3200" dirty="0"/>
              <a:t> </a:t>
            </a:r>
            <a:r>
              <a:rPr sz="3200" dirty="0"/>
              <a:t>and Engineering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E6A419-D98D-646B-0945-71577D3C9949}"/>
              </a:ext>
            </a:extLst>
          </p:cNvPr>
          <p:cNvSpPr/>
          <p:nvPr/>
        </p:nvSpPr>
        <p:spPr>
          <a:xfrm flipV="1">
            <a:off x="2477862" y="6717317"/>
            <a:ext cx="7712764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844D43-4EA8-BF96-7FC3-15A05CEA246A}"/>
              </a:ext>
            </a:extLst>
          </p:cNvPr>
          <p:cNvSpPr txBox="1"/>
          <p:nvPr/>
        </p:nvSpPr>
        <p:spPr>
          <a:xfrm>
            <a:off x="4072463" y="1168079"/>
            <a:ext cx="4240263" cy="15696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Mini Project (CSE7102)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REVIEW-1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29-08-2026</a:t>
            </a:r>
            <a:endParaRPr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51140" y="951239"/>
            <a:ext cx="10363200" cy="89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Flood Prediction using GIS and Machine Learning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7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Project ID: PRJ_363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599362439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Pathan Tasneem Farhana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CSS7102- Mini  Project Review-1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783900"/>
            <a:ext cx="1199449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Program(s): B.Tech - Computer Science and Engineering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(Team Leader’s): Dr. Gopal K Shya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(Team Leader’s)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Ms. Sumita Guddin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r.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Muthuraju V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669B82-28E1-6B84-884A-EF2B68034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291382"/>
              </p:ext>
            </p:extLst>
          </p:nvPr>
        </p:nvGraphicFramePr>
        <p:xfrm>
          <a:off x="429369" y="2820448"/>
          <a:ext cx="5542653" cy="1280000"/>
        </p:xfrm>
        <a:graphic>
          <a:graphicData uri="http://schemas.openxmlformats.org/drawingml/2006/table">
            <a:tbl>
              <a:tblPr firstRow="1" bandRow="1"/>
              <a:tblGrid>
                <a:gridCol w="659051">
                  <a:extLst>
                    <a:ext uri="{9D8B030D-6E8A-4147-A177-3AD203B41FA5}">
                      <a16:colId xmlns:a16="http://schemas.microsoft.com/office/drawing/2014/main" val="3892496743"/>
                    </a:ext>
                  </a:extLst>
                </a:gridCol>
                <a:gridCol w="2897486">
                  <a:extLst>
                    <a:ext uri="{9D8B030D-6E8A-4147-A177-3AD203B41FA5}">
                      <a16:colId xmlns:a16="http://schemas.microsoft.com/office/drawing/2014/main" val="1797090138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191578378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 err="1"/>
                        <a:t>Sl.No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/>
                        <a:t>Student Name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/>
                        <a:t>Roll Number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01227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lang="en-IN" sz="1300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Sagar.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20221COM0119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4762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lang="en-IN" sz="1300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Duddukuri Sri Aditya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20221COM0087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75835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lang="en-IN" sz="1300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Veluru Rahul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20231CSN0053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575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DAAE0D-9E2B-1BC4-51AE-E3E0CC59230D}"/>
              </a:ext>
            </a:extLst>
          </p:cNvPr>
          <p:cNvSpPr txBox="1"/>
          <p:nvPr/>
        </p:nvSpPr>
        <p:spPr>
          <a:xfrm>
            <a:off x="429369" y="2330214"/>
            <a:ext cx="61599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Group members details:</a:t>
            </a: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C68A9A96-FA24-D641-CFDC-9A25FFD27478}"/>
              </a:ext>
            </a:extLst>
          </p:cNvPr>
          <p:cNvSpPr txBox="1">
            <a:spLocks/>
          </p:cNvSpPr>
          <p:nvPr/>
        </p:nvSpPr>
        <p:spPr>
          <a:xfrm>
            <a:off x="7668155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Panel No: PANEL-26</a:t>
            </a:r>
          </a:p>
          <a:p>
            <a:pPr marL="0" indent="0" algn="l"/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NDEX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 Hub Link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Statement/Output Expected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Project(Gantt Chart)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PRJ_363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Both): Software (Machine Learning, GIS)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solution designed to address urban flood prediction and alert system using machine learning and GIS to improve efficiency, decision-making, monitoring, automation, and user outcomes.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Difficulty Level: Medium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https://github.com/&lt;team&gt;/flood-prediction-gis-ml  (to be created before final submission; ensure public access)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About the project: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Urban flooding is increasingly difficult to predict due to heavy rainfall, poor drainage, rapid urbanization, and changing land use. Traditional flood-warning methods often fail to provide localized, timely predictions.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Proposed Solution: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GIS-integrated machine learning framework that combines rainfall, elevation, drainage, land-use, and soil data to predict urban flood risk, classify areas by risk level, and generate real-time alerts when dangerous conditions are detected.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20CF3E6C-9D22-F1F7-4C96-42BCE8AC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95F6BE3-C2E7-E383-C049-39CB89CBD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4E2DF033-1663-A121-868A-192390F88A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A review of 11 recent papers on urban flood prediction using GIS and machine learning is summarized below.</a:t>
            </a:r>
          </a:p>
        </p:txBody>
      </p:sp>
      <p:graphicFrame>
        <p:nvGraphicFramePr>
          <p:cNvPr id="116" name="Table 115"/>
          <p:cNvGraphicFramePr>
            <a:graphicFrameLocks noGrp="1"/>
          </p:cNvGraphicFramePr>
          <p:nvPr/>
        </p:nvGraphicFramePr>
        <p:xfrm>
          <a:off x="812800" y="1650000"/>
          <a:ext cx="10668000" cy="46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500">
                <a:tc>
                  <a:txBody>
                    <a:bodyPr/>
                    <a:lstStyle/>
                    <a:p>
                      <a:r>
                        <a:rPr sz="1100" b="1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Source (Authors, Venue, 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Key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500"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Environmental Systems Research (Springer),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Reviews the evolution from physical process-based flood models to ML approaches integrated with GIS, IoT, and community participation.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500">
                <a:tc>
                  <a:txBody>
                    <a:bodyPr/>
                    <a:lstStyle/>
                    <a:p>
                      <a:r>
                        <a:rPr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Motta, de Castro Neto &amp; Sarmento, IJDRR,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Combines an ML classifier with GIS statistics; Random Forest gave the best result (MCC 0.77) using limited sensing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500">
                <a:tc>
                  <a:txBody>
                    <a:bodyPr/>
                    <a:lstStyle/>
                    <a:p>
                      <a:r>
                        <a:rPr sz="1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Science China Technological Sciences,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ML+GIS framework predicts flood susceptibility of urban metro systems; validated on the Zhengzhou 7.20 flood event.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500"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ScienceDirect,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Integrates land-use simulation, morphology analysis and ML (PLUS-MSPA-HGBDT) to assess future urban flood susceptibility in Shenzhen.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500">
                <a:tc>
                  <a:txBody>
                    <a:bodyPr/>
                    <a:lstStyle/>
                    <a:p>
                      <a:r>
                        <a:rPr sz="10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Jang, Yoo, Lee &amp; Kim, ScienceDirect,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Grid-based ML + GIS flood prediction using rainfall statistical characteristics, validated against a numerical model in Busan.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500"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Abedi, Costache, Shafizadeh-Moghadam &amp; Pham, Geocarto Intl.,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Compares XGBoost, Random Forest and boosted regression trees for flash-flood susceptibility mapping.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500">
                <a:tc>
                  <a:txBody>
                    <a:bodyPr/>
                    <a:lstStyle/>
                    <a:p>
                      <a:r>
                        <a:rPr sz="10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Ren, Pang, Bai, Zhao, Liu, Liu &amp; Li, Remote Sensing,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RF and XGBoost ensemble models for flood susceptibility in mountainous Kunming; RF achieved AUC 0.87.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500">
                <a:tc>
                  <a:txBody>
                    <a:bodyPr/>
                    <a:lstStyle/>
                    <a:p>
                      <a:r>
                        <a:rPr sz="10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Seydi, Kanani-Sadat, Hasanlou, Sahraei, Chanussot &amp; Amani, Remote Sensing,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Proposes a Cascade Forest Model using 21 flood-conditioning factors for flood susceptibility mapping.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7500">
                <a:tc>
                  <a:txBody>
                    <a:bodyPr/>
                    <a:lstStyle/>
                    <a:p>
                      <a:r>
                        <a:rPr sz="10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Mangkhaseum, Bhattarai, Duwal &amp; Hanazawa, Geomatics, Nat. Hazards &amp; Risk,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Compares RF, SVM, ANN and LSTM using open-source remote-sensing data for flood susceptibility in Lao PDR.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500">
                <a:tc>
                  <a:txBody>
                    <a:bodyPr/>
                    <a:lstStyle/>
                    <a:p>
                      <a:r>
                        <a:rPr sz="10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Doğal Afetler ve Çevre Dergisi,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Compares RF, stochastic gradient boosting and XGBoost for GIS-based flood hazard mapping in Istanbul; XGBoost performed best.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7500">
                <a:tc>
                  <a:txBody>
                    <a:bodyPr/>
                    <a:lstStyle/>
                    <a:p>
                      <a:r>
                        <a:rPr sz="10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Demissie, Rimal, Seyoum, Dutta &amp; Rimmington, Applied Computing &amp; Geosciences,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Compares six ML algorithms (LR, RF, SVM, KNN, AdaBoost, XGBoost) for flood susceptibility mapping in the US.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654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D0BC35-19ED-73A9-EE75-1137E394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2BB17B24-7E10-E0D9-F0F4-797FC7D4A3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B656EE7D-C165-CFED-D8E1-B5E966F08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6" name="Picture 115" descr="flood_prediction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617" y="1143000"/>
            <a:ext cx="4168366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353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C8B1B47-DF01-E1F4-26F3-14B9F826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3128998-8B2C-F90B-C9A2-EF57AD968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/Output Expected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5B056FAF-9BF2-46B4-CC0B-9C32D2D946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Expected outcomes of this project: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Real-time urban flood risk classification (Low / Moderate / High / Critical) at a localized zone level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trained ML model (Random Forest, XGBoost, LSTM) predicting flood probability from rainfall, elevation, drainage, and land-use data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GIS-based risk maps visualizing flood-prone zones across the city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threshold-based decision and alert engine that triggers warnings for authorities and residents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Web GIS dashboard displaying live risk maps, alerts, and historical trends</a:t>
            </a:r>
          </a:p>
        </p:txBody>
      </p:sp>
    </p:spTree>
    <p:extLst>
      <p:ext uri="{BB962C8B-B14F-4D97-AF65-F5344CB8AC3E}">
        <p14:creationId xmlns:p14="http://schemas.microsoft.com/office/powerpoint/2010/main" val="385819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Requirements: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Software Requirements: 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Python 3.x with scikit-learn, XGBoost, TensorFlow/Keras for model development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QGIS / ArcGIS for spatial data processing and DEM/land-use analysis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Flask or Django backend; React or Leaflet.js for the Web GIS dashboard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PostgreSQL with PostGIS extension for the spatial database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Jupyter Notebook / Google Colab for experimentation and model training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/>
              <a:t>Hardware Requirements: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t>Development machine: Intel i5/Ryzen 5 or higher, 8-16 GB RAM (GPU optional, for faster LSTM training)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t>Cloud or on-campus server for model deployment and dashboard hosting (AWS / GCP / Azure)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t>Minimum 50 GB storage for GIS datasets (DEM, satellite imagery, historical rainfall records)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t>Internet-enabled rain-gauge / IoT sensors for real-time data feed (proposed as future scope)</a:t>
            </a: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116" name="Table 115"/>
          <p:cNvGraphicFramePr>
            <a:graphicFrameLocks noGrp="1"/>
          </p:cNvGraphicFramePr>
          <p:nvPr/>
        </p:nvGraphicFramePr>
        <p:xfrm>
          <a:off x="812800" y="1750000"/>
          <a:ext cx="10668000" cy="45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6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6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6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6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6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05555"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W3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W4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W5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W6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W7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W8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W9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W10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555">
                <a:tc>
                  <a:txBody>
                    <a:bodyPr/>
                    <a:lstStyle/>
                    <a:p>
                      <a:r>
                        <a:rPr sz="900"/>
                        <a:t>Literature Survey &amp; Requirement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555">
                <a:tc>
                  <a:txBody>
                    <a:bodyPr/>
                    <a:lstStyle/>
                    <a:p>
                      <a:r>
                        <a:rPr sz="900"/>
                        <a:t>Data Collection (rainfall, DEM, land use, drainage)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555">
                <a:tc>
                  <a:txBody>
                    <a:bodyPr/>
                    <a:lstStyle/>
                    <a:p>
                      <a:r>
                        <a:rPr sz="900"/>
                        <a:t>Data Preprocessing &amp; 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555">
                <a:tc>
                  <a:txBody>
                    <a:bodyPr/>
                    <a:lstStyle/>
                    <a:p>
                      <a:r>
                        <a:rPr sz="900"/>
                        <a:t>ML Model Development &amp;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555">
                <a:tc>
                  <a:txBody>
                    <a:bodyPr/>
                    <a:lstStyle/>
                    <a:p>
                      <a:r>
                        <a:rPr sz="900"/>
                        <a:t>GIS Risk Mapping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5555">
                <a:tc>
                  <a:txBody>
                    <a:bodyPr/>
                    <a:lstStyle/>
                    <a:p>
                      <a:r>
                        <a:rPr sz="900"/>
                        <a:t>Alert System &amp; Dashboard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5555">
                <a:tc>
                  <a:txBody>
                    <a:bodyPr/>
                    <a:lstStyle/>
                    <a:p>
                      <a:r>
                        <a:rPr sz="900"/>
                        <a:t>Testing &amp;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5560">
                <a:tc>
                  <a:txBody>
                    <a:bodyPr/>
                    <a:lstStyle/>
                    <a:p>
                      <a:r>
                        <a:rPr sz="900"/>
                        <a:t>Documentation &amp; Final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6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[1] “Evolution from the physical process-based approaches to machine learning approaches to predicting urban floods: a literature review,” Environmental Systems Research, Springer Nature, 2025.</a:t>
            </a:r>
          </a:p>
          <a:p>
            <a:pPr marL="495300" indent="-34290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[2] M. Motta, M. de Castro Neto, and P. Sarmento, “A mixed approach for urban flood prediction using machine learning and GIS,” International Journal of Disaster Risk Reduction, vol. 56, p. 102154, 2021.</a:t>
            </a:r>
          </a:p>
          <a:p>
            <a:pPr marL="495300" indent="-34290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[3] “A novel framework incorporating machine learning into GIS for flood susceptibility prediction of urban metro systems,” Science China Technological Sciences, 2025.</a:t>
            </a:r>
          </a:p>
          <a:p>
            <a:pPr marL="495300" indent="-34290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[4] “Assessment of flood susceptibilities in future urban renewal using machine learning incorporated into GIS,” ScienceDirect, 2026.</a:t>
            </a:r>
          </a:p>
          <a:p>
            <a:pPr marL="495300" indent="-34290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[5] S.-D. Jang, J.-H. Yoo, Y.-S. Lee, and B. Kim, “Flood prediction in urban areas based on machine learning considering the statistical characteristics of rainfall,” ScienceDirect, 2025.</a:t>
            </a:r>
          </a:p>
          <a:p>
            <a:pPr marL="495300" indent="-34290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[6] R. Abedi, R. Costache, H. Shafizadeh-Moghadam, and Q. B. Pham, “Flash-flood susceptibility mapping based on XGBoost, random forest and boosted regression trees,” Geocarto International, vol. 37, no. 19, pp. 5479–5496, 2022.</a:t>
            </a:r>
          </a:p>
          <a:p>
            <a:pPr marL="495300" indent="-34290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[7] H. Ren, B. Pang, P. Bai, G. Zhao, S. Liu, Y. Liu, and M. Li, “Flood Susceptibility Assessment with Random Sampling Strategy in Ensemble Learning,” Remote Sensing, vol. 16, no. 2, p. 320, 2024.</a:t>
            </a:r>
          </a:p>
          <a:p>
            <a:pPr marL="495300" indent="-34290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[8] S. T. Seydi, Y. Kanani-Sadat, M. Hasanlou, R. Sahraei, J. Chanussot, and M. Amani, “Comparison of Machine Learning Algorithms for Flood Susceptibility Mapping,” Remote Sensing, vol. 15, no. 1, p. 192, 2022.</a:t>
            </a:r>
          </a:p>
          <a:p>
            <a:pPr marL="495300" indent="-34290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[9] S. Mangkhaseum, Y. Bhattarai, S. Duwal, and A. Hanazawa, “Flood susceptibility mapping leveraging open-source remote-sensing data and machine learning approaches in Nam Ngum River Basin (NNRB), Lao PDR,” Geomatics, Natural Hazards &amp; Risk, vol. 15, no. 1, 2024.</a:t>
            </a:r>
          </a:p>
          <a:p>
            <a:pPr marL="495300" indent="-34290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[10] “Generating the Flood Susceptibility Map for Istanbul with GIS-Based Machine Learning Algorithms,” Doğal Afetler ve Çevre Dergisi, 2024.</a:t>
            </a:r>
          </a:p>
          <a:p>
            <a:pPr marL="495300" indent="-34290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[11] Z. Demissie, P. Rimal, W. M. Seyoum, A. Dutta, and G. Rimmington, “Flood susceptibility mapping: Integrating machine learning and GIS for enhanced risk assessment,” Applied Computing and Geosciences, vol. 23, p. 100183, 2024.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customXml/itemProps3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1531</Words>
  <Application>Microsoft Office PowerPoint</Application>
  <PresentationFormat>Widescreen</PresentationFormat>
  <Paragraphs>158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</vt:lpstr>
      <vt:lpstr>Verdana</vt:lpstr>
      <vt:lpstr>Wingdings</vt:lpstr>
      <vt:lpstr>Bioinformatics</vt:lpstr>
      <vt:lpstr>PowerPoint Presentation</vt:lpstr>
      <vt:lpstr>Flood Prediction using GIS and Machine Learning</vt:lpstr>
      <vt:lpstr>INDEX</vt:lpstr>
      <vt:lpstr>Problem Statement Number: PRJ_363</vt:lpstr>
      <vt:lpstr>Github Link</vt:lpstr>
      <vt:lpstr>Introduction</vt:lpstr>
      <vt:lpstr>Literature Review</vt:lpstr>
      <vt:lpstr>Architecture Diagram</vt:lpstr>
      <vt:lpstr>Analysis of Problem Statement /Output Expected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Duddukuri Sri Aditya</cp:lastModifiedBy>
  <cp:revision>46</cp:revision>
  <dcterms:modified xsi:type="dcterms:W3CDTF">2026-09-25T16:08:05Z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